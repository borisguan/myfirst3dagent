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24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7512" y="502920"/>
            <a:ext cx="109728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" y="502920"/>
            <a:ext cx="109728" cy="502920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3D Model Modification Agent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10424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CDDCEB"/>
                </a:solidFill>
                <a:latin typeface="Microsoft YaHei"/>
              </a:defRPr>
            </a:pPr>
            <a:r>
              <a:t>面试作品集版 | Controlled Execution Agent Architecture for Blender / Mecha Modeling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743200"/>
            <a:ext cx="9738360" cy="1234440"/>
          </a:xfrm>
          <a:prstGeom prst="roundRect">
            <a:avLst/>
          </a:prstGeom>
          <a:solidFill>
            <a:srgbClr val="1C2D40"/>
          </a:solidFill>
          <a:ln>
            <a:solidFill>
              <a:srgbClr val="466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把自然语言设计意图，转换为可审计、可回滚、可测试的受控 3D 模型修改流程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4617720"/>
            <a:ext cx="1417320" cy="310896"/>
          </a:xfrm>
          <a:prstGeom prst="roundRect">
            <a:avLst/>
          </a:prstGeom>
          <a:solidFill>
            <a:srgbClr val="24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TaskObject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4617720"/>
            <a:ext cx="1417320" cy="310896"/>
          </a:xfrm>
          <a:prstGeom prst="round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Controlled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4617720"/>
            <a:ext cx="1417320" cy="310896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Atomic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4617720"/>
            <a:ext cx="1417320" cy="310896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Blender Core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5989320"/>
            <a:ext cx="6675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B9C8D7"/>
                </a:solidFill>
                <a:latin typeface="Microsoft YaHei"/>
              </a:defRPr>
            </a:pPr>
            <a:r>
              <a:t>不是 LLM 直接写 Blender 脚本，而是一个状态驱动、能力受控的 Agent 执行系统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00" b="1">
                <a:solidFill>
                  <a:srgbClr val="12202F"/>
                </a:solidFill>
                <a:latin typeface="Microsoft YaHei"/>
              </a:defRPr>
            </a:pPr>
            <a:r>
              <a:t>1. 项目定位：我做的不是 Demo，而是一个受控执行型 Agent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789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>
                <a:solidFill>
                  <a:srgbClr val="606C78"/>
                </a:solidFill>
                <a:latin typeface="Microsoft YaHei"/>
              </a:defRPr>
            </a:pPr>
            <a:r>
              <a:t>适合面试开场的核心叙事：问题 → 架构选择 → 工程价值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5204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91440" cy="44348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35607"/>
            <a:ext cx="315468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我解决的问题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108960" cy="3840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LLM 直接生成 Blender Python：不安全、不可审计、难复现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自然语言设计意图 ≠ Blender API 调用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一次性脚本无法沉淀成可复用建模能力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3D 建模修改需要回滚、报告、边界和确定性执行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5204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91440" cy="4434840"/>
          </a:xfrm>
          <a:prstGeom prst="rect">
            <a:avLst/>
          </a:prstGeom>
          <a:solidFill>
            <a:srgbClr val="24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35607"/>
            <a:ext cx="315468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我的架构选择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108960" cy="3840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TaskObject 作为 single source of truth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Agent 只创建结构化任务，不直接执行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Planning 负责绑定目标、选择 operation、补参数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Runtime 只调度已选 handler，Domain/Core 执行受控能力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5204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91440" cy="4434840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35607"/>
            <a:ext cx="315468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工程价值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108960" cy="3840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LLM-safe：避免任意脚本执行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可测试：每层职责与状态转换可单测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可审计：Runtime report 记录执行事实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可扩展：新增 operation 不改变主链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>
                <a:solidFill>
                  <a:srgbClr val="828C96"/>
                </a:solidFill>
                <a:latin typeface="Aptos"/>
              </a:defRPr>
            </a:pPr>
            <a:r>
              <a:t>3D Model Modification Agent System | Portfolio Deck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00" b="1">
                <a:solidFill>
                  <a:srgbClr val="12202F"/>
                </a:solidFill>
                <a:latin typeface="Microsoft YaHei"/>
              </a:defRPr>
            </a:pPr>
            <a:r>
              <a:t>2. 核心对比：Naive LLM Scripting vs Controlled Agent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789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>
                <a:solidFill>
                  <a:srgbClr val="606C78"/>
                </a:solidFill>
                <a:latin typeface="Microsoft YaHei"/>
              </a:defRPr>
            </a:pPr>
            <a:r>
              <a:t>面试中最容易讲清楚的价值差异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468880" cy="566928"/>
          </a:xfrm>
          <a:prstGeom prst="roundRect">
            <a:avLst/>
          </a:prstGeom>
          <a:solidFill>
            <a:srgbClr val="F2F5F8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200" b="1">
                <a:solidFill>
                  <a:srgbClr val="12202F"/>
                </a:solidFill>
                <a:latin typeface="Microsoft YaHei"/>
              </a:defRPr>
            </a:pPr>
            <a:r>
              <a:t>用户自然语言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2468880" cy="566928"/>
          </a:xfrm>
          <a:prstGeom prst="roundRect">
            <a:avLst/>
          </a:prstGeom>
          <a:solidFill>
            <a:srgbClr val="FFEBEB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200" b="1">
                <a:solidFill>
                  <a:srgbClr val="C00000"/>
                </a:solidFill>
                <a:latin typeface="Microsoft YaHei"/>
              </a:defRPr>
            </a:pPr>
            <a:r>
              <a:t>LLM 生成任意脚本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2468880" cy="566928"/>
          </a:xfrm>
          <a:prstGeom prst="roundRect">
            <a:avLst/>
          </a:prstGeom>
          <a:solidFill>
            <a:srgbClr val="FFEBEB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200" b="1">
                <a:solidFill>
                  <a:srgbClr val="C00000"/>
                </a:solidFill>
                <a:latin typeface="Microsoft YaHei"/>
              </a:defRPr>
            </a:pPr>
            <a:r>
              <a:t>直接调用 bpy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2468880" cy="566928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00" b="1">
                <a:solidFill>
                  <a:srgbClr val="ED7D31"/>
                </a:solidFill>
                <a:latin typeface="Microsoft YaHei"/>
              </a:defRPr>
            </a:pPr>
            <a:r>
              <a:t>风险：覆盖/删除/不可复现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5960" y="1847088"/>
            <a:ext cx="0" cy="301752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965960" y="2715768"/>
            <a:ext cx="0" cy="301752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65960" y="3584448"/>
            <a:ext cx="0" cy="301752"/>
          </a:xfrm>
          <a:prstGeom prst="line">
            <a:avLst/>
          </a:prstGeom>
          <a:ln w="1778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489204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C00000"/>
                </a:solidFill>
                <a:latin typeface="Microsoft YaHei"/>
              </a:defRPr>
            </a:pPr>
            <a:r>
              <a:t>Naive Approach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508760"/>
            <a:ext cx="14173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00" b="1">
                <a:solidFill>
                  <a:srgbClr val="12202F"/>
                </a:solidFill>
                <a:latin typeface="Microsoft YaHei"/>
              </a:defRPr>
            </a:pPr>
            <a:r>
              <a:t>TaskObject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7840" y="1819656"/>
            <a:ext cx="411480" cy="0"/>
          </a:xfrm>
          <a:prstGeom prst="line">
            <a:avLst/>
          </a:prstGeom>
          <a:ln w="17780">
            <a:solidFill>
              <a:srgbClr val="246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89320" y="1508760"/>
            <a:ext cx="14173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00" b="1">
                <a:solidFill>
                  <a:srgbClr val="12202F"/>
                </a:solidFill>
                <a:latin typeface="Microsoft YaHei"/>
              </a:defRPr>
            </a:pPr>
            <a:r>
              <a:t>Planning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06640" y="1819656"/>
            <a:ext cx="411480" cy="0"/>
          </a:xfrm>
          <a:prstGeom prst="line">
            <a:avLst/>
          </a:prstGeom>
          <a:ln w="17780">
            <a:solidFill>
              <a:srgbClr val="246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18120" y="1508760"/>
            <a:ext cx="14173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00" b="1">
                <a:solidFill>
                  <a:srgbClr val="12202F"/>
                </a:solidFill>
                <a:latin typeface="Microsoft YaHei"/>
              </a:defRPr>
            </a:pPr>
            <a:r>
              <a:t>Runtime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35440" y="1819656"/>
            <a:ext cx="411480" cy="0"/>
          </a:xfrm>
          <a:prstGeom prst="line">
            <a:avLst/>
          </a:prstGeom>
          <a:ln w="17780">
            <a:solidFill>
              <a:srgbClr val="246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46920" y="1508760"/>
            <a:ext cx="14173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00" b="1">
                <a:solidFill>
                  <a:srgbClr val="12202F"/>
                </a:solidFill>
                <a:latin typeface="Microsoft YaHei"/>
              </a:defRPr>
            </a:pPr>
            <a:r>
              <a:t>Domain/Core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2697480"/>
            <a:ext cx="6903720" cy="694944"/>
          </a:xfrm>
          <a:prstGeom prst="roundRect">
            <a:avLst/>
          </a:prstGeom>
          <a:solidFill>
            <a:srgbClr val="EBF5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300" b="1">
                <a:solidFill>
                  <a:srgbClr val="12202F"/>
                </a:solidFill>
                <a:latin typeface="Microsoft YaHei"/>
              </a:defRPr>
            </a:pPr>
            <a:r>
              <a:t>只允许执行 OperationRegistry 中注册的 deterministic design operation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703320"/>
            <a:ext cx="6903720" cy="694944"/>
          </a:xfrm>
          <a:prstGeom prst="roundRect">
            <a:avLst/>
          </a:prstGeom>
          <a:solidFill>
            <a:srgbClr val="EBFAF0"/>
          </a:solidFill>
          <a:ln w="1016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300" b="1">
                <a:solidFill>
                  <a:srgbClr val="12202F"/>
                </a:solidFill>
                <a:latin typeface="Microsoft YaHei"/>
              </a:defRPr>
            </a:pPr>
            <a:r>
              <a:t>Core API 是唯一触碰 Blender bpy 的边界；输出保存为 .blend copy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89204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4EA72E"/>
                </a:solidFill>
                <a:latin typeface="Microsoft YaHei"/>
              </a:defRPr>
            </a:pPr>
            <a:r>
              <a:t>Controlled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>
                <a:solidFill>
                  <a:srgbClr val="828C96"/>
                </a:solidFill>
                <a:latin typeface="Aptos"/>
              </a:defRPr>
            </a:pPr>
            <a:r>
              <a:t>3D Model Modification Agent System | Portfolio Deck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00" b="1">
                <a:solidFill>
                  <a:srgbClr val="12202F"/>
                </a:solidFill>
                <a:latin typeface="Microsoft YaHei"/>
              </a:defRPr>
            </a:pPr>
            <a:r>
              <a:t>3. 主链架构：从自然语言到可审计的 Blender 修改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789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>
                <a:solidFill>
                  <a:srgbClr val="606C78"/>
                </a:solidFill>
                <a:latin typeface="Microsoft YaHei"/>
              </a:defRPr>
            </a:pPr>
            <a:r>
              <a:t>主链清晰，是该项目最重要的架构资产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43000" cy="731520"/>
          </a:xfrm>
          <a:prstGeom prst="roundRect">
            <a:avLst/>
          </a:prstGeom>
          <a:solidFill>
            <a:srgbClr val="F2F5F8"/>
          </a:solidFill>
          <a:ln w="1016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880" b="1">
                <a:solidFill>
                  <a:srgbClr val="12202F"/>
                </a:solidFill>
                <a:latin typeface="Microsoft YaHei"/>
              </a:defRPr>
            </a:pPr>
            <a:r>
              <a:t>User Input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2194560"/>
            <a:ext cx="124358" cy="0"/>
          </a:xfrm>
          <a:prstGeom prst="line">
            <a:avLst/>
          </a:prstGeom>
          <a:ln w="17780">
            <a:solidFill>
              <a:srgbClr val="60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46504" y="1828800"/>
            <a:ext cx="1143000" cy="731520"/>
          </a:xfrm>
          <a:prstGeom prst="roundRect">
            <a:avLst/>
          </a:prstGeom>
          <a:solidFill>
            <a:srgbClr val="246EB9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880" b="1">
                <a:solidFill>
                  <a:srgbClr val="FFFFFF"/>
                </a:solidFill>
                <a:latin typeface="Microsoft YaHei"/>
              </a:defRPr>
            </a:pPr>
            <a:r>
              <a:t>Agent Layer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9504" y="2194560"/>
            <a:ext cx="124358" cy="0"/>
          </a:xfrm>
          <a:prstGeom prst="line">
            <a:avLst/>
          </a:prstGeom>
          <a:ln w="17780">
            <a:solidFill>
              <a:srgbClr val="60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35808" y="1828800"/>
            <a:ext cx="1143000" cy="731520"/>
          </a:xfrm>
          <a:prstGeom prst="roundRect">
            <a:avLst/>
          </a:prstGeom>
          <a:solidFill>
            <a:srgbClr val="ED7D31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880" b="1">
                <a:solidFill>
                  <a:srgbClr val="FFFFFF"/>
                </a:solidFill>
                <a:latin typeface="Microsoft YaHei"/>
              </a:defRPr>
            </a:pPr>
            <a:r>
              <a:t>TaskObject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78808" y="2194560"/>
            <a:ext cx="124358" cy="0"/>
          </a:xfrm>
          <a:prstGeom prst="line">
            <a:avLst/>
          </a:prstGeom>
          <a:ln w="17780">
            <a:solidFill>
              <a:srgbClr val="60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25112" y="1828800"/>
            <a:ext cx="1143000" cy="731520"/>
          </a:xfrm>
          <a:prstGeom prst="roundRect">
            <a:avLst/>
          </a:prstGeom>
          <a:solidFill>
            <a:srgbClr val="246EB9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880" b="1">
                <a:solidFill>
                  <a:srgbClr val="FFFFFF"/>
                </a:solidFill>
                <a:latin typeface="Microsoft YaHei"/>
              </a:defRPr>
            </a:pPr>
            <a:r>
              <a:t>Planning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68112" y="2194560"/>
            <a:ext cx="124358" cy="0"/>
          </a:xfrm>
          <a:prstGeom prst="line">
            <a:avLst/>
          </a:prstGeom>
          <a:ln w="17780">
            <a:solidFill>
              <a:srgbClr val="60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14416" y="1828800"/>
            <a:ext cx="1143000" cy="731520"/>
          </a:xfrm>
          <a:prstGeom prst="roundRect">
            <a:avLst/>
          </a:prstGeom>
          <a:solidFill>
            <a:srgbClr val="246EB9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880" b="1">
                <a:solidFill>
                  <a:srgbClr val="FFFFFF"/>
                </a:solidFill>
                <a:latin typeface="Microsoft YaHei"/>
              </a:defRPr>
            </a:pPr>
            <a:r>
              <a:t>Runtime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57416" y="2194560"/>
            <a:ext cx="124358" cy="0"/>
          </a:xfrm>
          <a:prstGeom prst="line">
            <a:avLst/>
          </a:prstGeom>
          <a:ln w="17780">
            <a:solidFill>
              <a:srgbClr val="60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03720" y="1828800"/>
            <a:ext cx="1143000" cy="731520"/>
          </a:xfrm>
          <a:prstGeom prst="roundRect">
            <a:avLst/>
          </a:prstGeom>
          <a:solidFill>
            <a:srgbClr val="4EA72E"/>
          </a:solidFill>
          <a:ln w="1016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880" b="1">
                <a:solidFill>
                  <a:srgbClr val="FFFFFF"/>
                </a:solidFill>
                <a:latin typeface="Microsoft YaHei"/>
              </a:defRPr>
            </a:pPr>
            <a:r>
              <a:t>Domain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46720" y="2194560"/>
            <a:ext cx="124358" cy="0"/>
          </a:xfrm>
          <a:prstGeom prst="line">
            <a:avLst/>
          </a:prstGeom>
          <a:ln w="17780">
            <a:solidFill>
              <a:srgbClr val="60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93023" y="1828800"/>
            <a:ext cx="1143000" cy="731520"/>
          </a:xfrm>
          <a:prstGeom prst="roundRect">
            <a:avLst/>
          </a:prstGeom>
          <a:solidFill>
            <a:srgbClr val="4EA72E"/>
          </a:solidFill>
          <a:ln w="1016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880" b="1">
                <a:solidFill>
                  <a:srgbClr val="FFFFFF"/>
                </a:solidFill>
                <a:latin typeface="Microsoft YaHei"/>
              </a:defRPr>
            </a:pPr>
            <a:r>
              <a:t>Core API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36024" y="2194560"/>
            <a:ext cx="124358" cy="0"/>
          </a:xfrm>
          <a:prstGeom prst="line">
            <a:avLst/>
          </a:prstGeom>
          <a:ln w="17780">
            <a:solidFill>
              <a:srgbClr val="60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82328" y="1828800"/>
            <a:ext cx="1143000" cy="731520"/>
          </a:xfrm>
          <a:prstGeom prst="roundRect">
            <a:avLst/>
          </a:prstGeom>
          <a:solidFill>
            <a:srgbClr val="F2F5F8"/>
          </a:solidFill>
          <a:ln w="1016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880" b="1">
                <a:solidFill>
                  <a:srgbClr val="12202F"/>
                </a:solidFill>
                <a:latin typeface="Microsoft YaHei"/>
              </a:defRPr>
            </a:pPr>
            <a:r>
              <a:t>Blender bpy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25328" y="2194560"/>
            <a:ext cx="124358" cy="0"/>
          </a:xfrm>
          <a:prstGeom prst="line">
            <a:avLst/>
          </a:prstGeom>
          <a:ln w="17780">
            <a:solidFill>
              <a:srgbClr val="60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771632" y="1828800"/>
            <a:ext cx="1143000" cy="731520"/>
          </a:xfrm>
          <a:prstGeom prst="roundRect">
            <a:avLst/>
          </a:prstGeom>
          <a:solidFill>
            <a:srgbClr val="ED7D31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880" b="1">
                <a:solidFill>
                  <a:srgbClr val="FFFFFF"/>
                </a:solidFill>
                <a:latin typeface="Microsoft YaHei"/>
              </a:defRPr>
            </a:pPr>
            <a:r>
              <a:t>Output +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46120"/>
            <a:ext cx="25146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246120"/>
            <a:ext cx="91440" cy="2286000"/>
          </a:xfrm>
          <a:prstGeom prst="rect">
            <a:avLst/>
          </a:prstGeom>
          <a:solidFill>
            <a:srgbClr val="24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355848"/>
            <a:ext cx="21488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49039"/>
            <a:ext cx="21031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理解用户输入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生成 draft TaskObject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不执行 / 不选最终 operation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3246120"/>
            <a:ext cx="25146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0440" y="3246120"/>
            <a:ext cx="91440" cy="2286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355848"/>
            <a:ext cx="21488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749039"/>
            <a:ext cx="21031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目标绑定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Operation 选择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参数补全 + safety check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246120"/>
            <a:ext cx="25146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246120"/>
            <a:ext cx="91440" cy="2286000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355848"/>
            <a:ext cx="21488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Runtime / Domain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749039"/>
            <a:ext cx="21031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只执行 ready task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派发固定 handler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返回 OperationOutcome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3246120"/>
            <a:ext cx="251460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98280" y="3246120"/>
            <a:ext cx="91440" cy="2286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355848"/>
            <a:ext cx="21488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Core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749039"/>
            <a:ext cx="21031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唯一接触 bpy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添加/替换 modifier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copy-only 保存与底层报告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3796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>
                <a:solidFill>
                  <a:srgbClr val="828C96"/>
                </a:solidFill>
                <a:latin typeface="Aptos"/>
              </a:defRPr>
            </a:pPr>
            <a:r>
              <a:t>3D Model Modification Agent System | Portfolio Deck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00" b="1">
                <a:solidFill>
                  <a:srgbClr val="12202F"/>
                </a:solidFill>
                <a:latin typeface="Microsoft YaHei"/>
              </a:defRPr>
            </a:pPr>
            <a:r>
              <a:t>4. TaskObject：Agent 系统的 Single Source of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789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>
                <a:solidFill>
                  <a:srgbClr val="606C78"/>
                </a:solidFill>
                <a:latin typeface="Microsoft YaHei"/>
              </a:defRPr>
            </a:pPr>
            <a:r>
              <a:t>用显式状态与字段所有权，替代隐式聊天历史和散落的 plan/dict/script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23444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950" b="1">
                <a:solidFill>
                  <a:srgbClr val="12202F"/>
                </a:solidFill>
                <a:latin typeface="Microsoft YaHei"/>
              </a:defRPr>
            </a:pPr>
            <a:r>
              <a:t>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74519" y="1668780"/>
            <a:ext cx="365761" cy="0"/>
          </a:xfrm>
          <a:prstGeom prst="line">
            <a:avLst/>
          </a:prstGeom>
          <a:ln w="17780">
            <a:solidFill>
              <a:srgbClr val="246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40280" y="1417320"/>
            <a:ext cx="123444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950" b="1">
                <a:solidFill>
                  <a:srgbClr val="12202F"/>
                </a:solidFill>
                <a:latin typeface="Microsoft YaHei"/>
              </a:defRPr>
            </a:pPr>
            <a:r>
              <a:t>validated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0" y="1668780"/>
            <a:ext cx="365760" cy="0"/>
          </a:xfrm>
          <a:prstGeom prst="line">
            <a:avLst/>
          </a:prstGeom>
          <a:ln w="17780">
            <a:solidFill>
              <a:srgbClr val="246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0" y="1417320"/>
            <a:ext cx="123444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950" b="1">
                <a:solidFill>
                  <a:srgbClr val="12202F"/>
                </a:solidFill>
                <a:latin typeface="Microsoft YaHei"/>
              </a:defRPr>
            </a:pPr>
            <a:r>
              <a:t>bound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74920" y="1668780"/>
            <a:ext cx="365760" cy="0"/>
          </a:xfrm>
          <a:prstGeom prst="line">
            <a:avLst/>
          </a:prstGeom>
          <a:ln w="17780">
            <a:solidFill>
              <a:srgbClr val="246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40680" y="1417320"/>
            <a:ext cx="123444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950" b="1">
                <a:solidFill>
                  <a:srgbClr val="12202F"/>
                </a:solidFill>
                <a:latin typeface="Microsoft YaHei"/>
              </a:defRPr>
            </a:pPr>
            <a:r>
              <a:t>planned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75120" y="1668780"/>
            <a:ext cx="365760" cy="0"/>
          </a:xfrm>
          <a:prstGeom prst="line">
            <a:avLst/>
          </a:prstGeom>
          <a:ln w="17780">
            <a:solidFill>
              <a:srgbClr val="246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40880" y="1417320"/>
            <a:ext cx="123444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950" b="1">
                <a:solidFill>
                  <a:srgbClr val="12202F"/>
                </a:solidFill>
                <a:latin typeface="Microsoft YaHei"/>
              </a:defRPr>
            </a:pPr>
            <a:r>
              <a:t>ready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75320" y="1668780"/>
            <a:ext cx="365760" cy="0"/>
          </a:xfrm>
          <a:prstGeom prst="line">
            <a:avLst/>
          </a:prstGeom>
          <a:ln w="17780">
            <a:solidFill>
              <a:srgbClr val="246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41080" y="1417320"/>
            <a:ext cx="1234440" cy="502920"/>
          </a:xfrm>
          <a:prstGeom prst="roundRect">
            <a:avLst/>
          </a:prstGeom>
          <a:solidFill>
            <a:srgbClr val="F2F5F8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950" b="1">
                <a:solidFill>
                  <a:srgbClr val="12202F"/>
                </a:solidFill>
                <a:latin typeface="Microsoft YaHei"/>
              </a:defRPr>
            </a:pPr>
            <a:r>
              <a:t>executing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75519" y="1668780"/>
            <a:ext cx="365761" cy="0"/>
          </a:xfrm>
          <a:prstGeom prst="line">
            <a:avLst/>
          </a:prstGeom>
          <a:ln w="17780">
            <a:solidFill>
              <a:srgbClr val="246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241280" y="1417320"/>
            <a:ext cx="1234440" cy="502920"/>
          </a:xfrm>
          <a:prstGeom prst="roundRect">
            <a:avLst/>
          </a:prstGeom>
          <a:solidFill>
            <a:srgbClr val="F2F5F8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950" b="1">
                <a:solidFill>
                  <a:srgbClr val="12202F"/>
                </a:solidFill>
                <a:latin typeface="Microsoft YaHei"/>
              </a:defRPr>
            </a:pPr>
            <a:r>
              <a:t>completed/failed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423160"/>
            <a:ext cx="265176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423160"/>
            <a:ext cx="91440" cy="2194560"/>
          </a:xfrm>
          <a:prstGeom prst="rect">
            <a:avLst/>
          </a:prstGeom>
          <a:solidFill>
            <a:srgbClr val="24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532888"/>
            <a:ext cx="22860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Agent owns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926080"/>
            <a:ext cx="2240279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source / task_type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target.semantic_part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intent / constraints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2423160"/>
            <a:ext cx="265176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2423160"/>
            <a:ext cx="91440" cy="2194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2532888"/>
            <a:ext cx="22860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Planning owns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2926080"/>
            <a:ext cx="2240279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bound_object / candidates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selected_operation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parameters / execution_policy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423160"/>
            <a:ext cx="265176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423160"/>
            <a:ext cx="91440" cy="2194560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532888"/>
            <a:ext cx="22860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Runtime owns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926080"/>
            <a:ext cx="2240279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runtime paths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result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completed / failed state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60" y="2423160"/>
            <a:ext cx="228600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81160" y="2423160"/>
            <a:ext cx="91440" cy="2194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2532888"/>
            <a:ext cx="1920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Domain owns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2926080"/>
            <a:ext cx="1874519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none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只返回 outcome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不修改 TaskObject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34440" y="5212080"/>
            <a:ext cx="9692640" cy="566928"/>
          </a:xfrm>
          <a:prstGeom prst="roundRect">
            <a:avLst/>
          </a:prstGeom>
          <a:solidFill>
            <a:srgbClr val="EBF5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200" b="1">
                <a:solidFill>
                  <a:srgbClr val="12202F"/>
                </a:solidFill>
                <a:latin typeface="Microsoft YaHei"/>
              </a:defRPr>
            </a:pPr>
            <a:r>
              <a:t>价值：可序列化、可测试、可审计、可恢复；防止 OperationPlan / dict / script 成为第二事实源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3796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>
                <a:solidFill>
                  <a:srgbClr val="828C96"/>
                </a:solidFill>
                <a:latin typeface="Aptos"/>
              </a:defRPr>
            </a:pPr>
            <a:r>
              <a:t>3D Model Modification Agent System | Portfolio Deck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00" b="1">
                <a:solidFill>
                  <a:srgbClr val="12202F"/>
                </a:solidFill>
                <a:latin typeface="Microsoft YaHei"/>
              </a:defRPr>
            </a:pPr>
            <a:r>
              <a:t>5. 关键架构决策：Decision / Trade-off /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789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>
                <a:solidFill>
                  <a:srgbClr val="606C78"/>
                </a:solidFill>
                <a:latin typeface="Microsoft YaHei"/>
              </a:defRPr>
            </a:pPr>
            <a:r>
              <a:t>这部分最能体现个人架构判断力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2331720" cy="566928"/>
          </a:xfrm>
          <a:prstGeom prst="roundRect">
            <a:avLst/>
          </a:prstGeom>
          <a:solidFill>
            <a:srgbClr val="12202F"/>
          </a:solidFill>
          <a:ln w="10160"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LLM 不直接执行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143000"/>
            <a:ext cx="3337560" cy="566928"/>
          </a:xfrm>
          <a:prstGeom prst="roundRect">
            <a:avLst/>
          </a:prstGeom>
          <a:solidFill>
            <a:srgbClr val="FFF5EB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050" b="0">
                <a:solidFill>
                  <a:srgbClr val="784614"/>
                </a:solidFill>
                <a:latin typeface="Microsoft YaHei"/>
              </a:defRPr>
            </a:pPr>
            <a:r>
              <a:t>牺牲自由脚本灵活性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143000"/>
            <a:ext cx="4572000" cy="566928"/>
          </a:xfrm>
          <a:prstGeom prst="roundRect">
            <a:avLst/>
          </a:prstGeom>
          <a:solidFill>
            <a:srgbClr val="EBFAF0"/>
          </a:solidFill>
          <a:ln w="1016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050" b="1">
                <a:solidFill>
                  <a:srgbClr val="12202F"/>
                </a:solidFill>
                <a:latin typeface="Microsoft YaHei"/>
              </a:defRPr>
            </a:pPr>
            <a:r>
              <a:t>换来安全边界、可审计和可测试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2331720" cy="566928"/>
          </a:xfrm>
          <a:prstGeom prst="roundRect">
            <a:avLst/>
          </a:prstGeom>
          <a:solidFill>
            <a:srgbClr val="12202F"/>
          </a:solidFill>
          <a:ln w="10160"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TaskObject 主事实源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103120"/>
            <a:ext cx="3337560" cy="566928"/>
          </a:xfrm>
          <a:prstGeom prst="roundRect">
            <a:avLst/>
          </a:prstGeom>
          <a:solidFill>
            <a:srgbClr val="FFF5EB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050" b="0">
                <a:solidFill>
                  <a:srgbClr val="784614"/>
                </a:solidFill>
                <a:latin typeface="Microsoft YaHei"/>
              </a:defRPr>
            </a:pPr>
            <a:r>
              <a:t>需要显式 schema / lifecycle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2103120"/>
            <a:ext cx="4572000" cy="566928"/>
          </a:xfrm>
          <a:prstGeom prst="roundRect">
            <a:avLst/>
          </a:prstGeom>
          <a:solidFill>
            <a:srgbClr val="EBFAF0"/>
          </a:solidFill>
          <a:ln w="1016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050" b="1">
                <a:solidFill>
                  <a:srgbClr val="12202F"/>
                </a:solidFill>
                <a:latin typeface="Microsoft YaHei"/>
              </a:defRPr>
            </a:pPr>
            <a:r>
              <a:t>避免多事实源回潮，支持恢复和回放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2331720" cy="566928"/>
          </a:xfrm>
          <a:prstGeom prst="roundRect">
            <a:avLst/>
          </a:prstGeom>
          <a:solidFill>
            <a:srgbClr val="12202F"/>
          </a:solidFill>
          <a:ln w="10160"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Atomic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063240"/>
            <a:ext cx="3337560" cy="566928"/>
          </a:xfrm>
          <a:prstGeom prst="roundRect">
            <a:avLst/>
          </a:prstGeom>
          <a:solidFill>
            <a:srgbClr val="FFF5EB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050" b="0">
                <a:solidFill>
                  <a:srgbClr val="784614"/>
                </a:solidFill>
                <a:latin typeface="Microsoft YaHei"/>
              </a:defRPr>
            </a:pPr>
            <a:r>
              <a:t>暂不做酷炫 composite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3063240"/>
            <a:ext cx="4572000" cy="566928"/>
          </a:xfrm>
          <a:prstGeom prst="roundRect">
            <a:avLst/>
          </a:prstGeom>
          <a:solidFill>
            <a:srgbClr val="EBFAF0"/>
          </a:solidFill>
          <a:ln w="1016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050" b="1">
                <a:solidFill>
                  <a:srgbClr val="12202F"/>
                </a:solidFill>
                <a:latin typeface="Microsoft YaHei"/>
              </a:defRPr>
            </a:pPr>
            <a:r>
              <a:t>先验证基础能力，再从真实用例抽象组合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23360"/>
            <a:ext cx="2331720" cy="566928"/>
          </a:xfrm>
          <a:prstGeom prst="roundRect">
            <a:avLst/>
          </a:prstGeom>
          <a:solidFill>
            <a:srgbClr val="12202F"/>
          </a:solidFill>
          <a:ln w="10160"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Core API 才能接触 bpy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4023360"/>
            <a:ext cx="3337560" cy="566928"/>
          </a:xfrm>
          <a:prstGeom prst="roundRect">
            <a:avLst/>
          </a:prstGeom>
          <a:solidFill>
            <a:srgbClr val="FFF5EB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050" b="0">
                <a:solidFill>
                  <a:srgbClr val="784614"/>
                </a:solidFill>
                <a:latin typeface="Microsoft YaHei"/>
              </a:defRPr>
            </a:pPr>
            <a:r>
              <a:t>多一层封装成本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4023360"/>
            <a:ext cx="4572000" cy="566928"/>
          </a:xfrm>
          <a:prstGeom prst="roundRect">
            <a:avLst/>
          </a:prstGeom>
          <a:solidFill>
            <a:srgbClr val="EBFAF0"/>
          </a:solidFill>
          <a:ln w="1016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050" b="1">
                <a:solidFill>
                  <a:srgbClr val="12202F"/>
                </a:solidFill>
                <a:latin typeface="Microsoft YaHei"/>
              </a:defRPr>
            </a:pPr>
            <a:r>
              <a:t>隔离低层 API，方便 fake 测试与安全控制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983480"/>
            <a:ext cx="2331720" cy="566928"/>
          </a:xfrm>
          <a:prstGeom prst="roundRect">
            <a:avLst/>
          </a:prstGeom>
          <a:solidFill>
            <a:srgbClr val="12202F"/>
          </a:solidFill>
          <a:ln w="10160"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Copy-only persistence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4983480"/>
            <a:ext cx="3337560" cy="566928"/>
          </a:xfrm>
          <a:prstGeom prst="roundRect">
            <a:avLst/>
          </a:prstGeom>
          <a:solidFill>
            <a:srgbClr val="FFF5EB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050" b="0">
                <a:solidFill>
                  <a:srgbClr val="784614"/>
                </a:solidFill>
                <a:latin typeface="Microsoft YaHei"/>
              </a:defRPr>
            </a:pPr>
            <a:r>
              <a:t>不直接覆盖源文件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4983480"/>
            <a:ext cx="4572000" cy="566928"/>
          </a:xfrm>
          <a:prstGeom prst="roundRect">
            <a:avLst/>
          </a:prstGeom>
          <a:solidFill>
            <a:srgbClr val="EBFAF0"/>
          </a:solidFill>
          <a:ln w="1016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050" b="1">
                <a:solidFill>
                  <a:srgbClr val="12202F"/>
                </a:solidFill>
                <a:latin typeface="Microsoft YaHei"/>
              </a:defRPr>
            </a:pPr>
            <a:r>
              <a:t>天然回滚：失败或不满意直接丢弃 output 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>
                <a:solidFill>
                  <a:srgbClr val="828C96"/>
                </a:solidFill>
                <a:latin typeface="Aptos"/>
              </a:defRPr>
            </a:pPr>
            <a:r>
              <a:t>3D Model Modification Agent System | Portfolio Deck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00" b="1">
                <a:solidFill>
                  <a:srgbClr val="12202F"/>
                </a:solidFill>
                <a:latin typeface="Microsoft YaHei"/>
              </a:defRPr>
            </a:pPr>
            <a:r>
              <a:t>6. Atomic Operation Library v1：把设计动作沉淀成能力语言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789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>
                <a:solidFill>
                  <a:srgbClr val="606C78"/>
                </a:solidFill>
                <a:latin typeface="Microsoft YaHei"/>
              </a:defRPr>
            </a:pPr>
            <a:r>
              <a:t>10 个 modifier-only / non-destructive operations，支撑机甲硬表面建模基础语义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1663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91440" cy="1965960"/>
          </a:xfrm>
          <a:prstGeom prst="rect">
            <a:avLst/>
          </a:prstGeom>
          <a:solidFill>
            <a:srgbClr val="24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4800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Surface /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panel_line_bevel_prepare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surface_inset_prepare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armor_edge_lip_prepare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edge_soften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1663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234440"/>
            <a:ext cx="91440" cy="1965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44168"/>
            <a:ext cx="4800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Form / Mass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solidify_thickness_preview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armor_layer_plate_prepare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51663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703320"/>
            <a:ext cx="91440" cy="1965960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13048"/>
            <a:ext cx="4800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Functional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vent_slot_prepare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thruster_nozzle_prepare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hardpoint_socket_prepare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703320"/>
            <a:ext cx="51663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3703320"/>
            <a:ext cx="91440" cy="19659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813048"/>
            <a:ext cx="4800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Finish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weighted_normal_finish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989320"/>
            <a:ext cx="9464040" cy="402336"/>
          </a:xfrm>
          <a:prstGeom prst="roundRect">
            <a:avLst/>
          </a:prstGeom>
          <a:solidFill>
            <a:srgbClr val="EBF5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20" b="1">
                <a:solidFill>
                  <a:srgbClr val="12202F"/>
                </a:solidFill>
                <a:latin typeface="Microsoft YaHei"/>
              </a:defRPr>
            </a:pPr>
            <a:r>
              <a:t>Operation 是设计语义能力，不是 Blender API wrapper；Core helper 只是实现手段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>
                <a:solidFill>
                  <a:srgbClr val="828C96"/>
                </a:solidFill>
                <a:latin typeface="Aptos"/>
              </a:defRPr>
            </a:pPr>
            <a:r>
              <a:t>3D Model Modification Agent System | Portfolio Deck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00" b="1">
                <a:solidFill>
                  <a:srgbClr val="12202F"/>
                </a:solidFill>
                <a:latin typeface="Microsoft YaHei"/>
              </a:defRPr>
            </a:pPr>
            <a:r>
              <a:t>7. 安全与可靠性边界：让模型修改可控、可回滚、可解释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789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>
                <a:solidFill>
                  <a:srgbClr val="606C78"/>
                </a:solidFill>
                <a:latin typeface="Microsoft YaHei"/>
              </a:defRPr>
            </a:pPr>
            <a:r>
              <a:t>这个系统的核心不是“能不能改模型”，而是“怎么安全地改模型”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91440" cy="4526280"/>
          </a:xfrm>
          <a:prstGeom prst="rect">
            <a:avLst/>
          </a:prstGeom>
          <a:solidFill>
            <a:srgbClr val="24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35607"/>
            <a:ext cx="3063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执行保护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Runtime 只接受 ready_to_execute TaskObject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缺 handler 直接失败，不 fallback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Domain 不保存文件、不写 report、不改 TaskObject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Core API 是唯一 bpy 边界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91440" cy="4526280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35607"/>
            <a:ext cx="3063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文件保护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30175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source .blend 不覆盖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结果保存为 output .blend copy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source overwrite 被拒绝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mesh_data_applied=false 作为当前阶段约束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4290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91440" cy="4526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35607"/>
            <a:ext cx="3063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诊断能力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0175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Runtime report 记录 operation / target / parameters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OperationOutcome 记录 changed_objects / modifier_info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失败 report 包含 error_stage / message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后续可扩展 post-check 与 retry 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>
                <a:solidFill>
                  <a:srgbClr val="828C96"/>
                </a:solidFill>
                <a:latin typeface="Aptos"/>
              </a:defRPr>
            </a:pPr>
            <a:r>
              <a:t>3D Model Modification Agent System | Portfolio Deck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00" b="1">
                <a:solidFill>
                  <a:srgbClr val="12202F"/>
                </a:solidFill>
                <a:latin typeface="Microsoft YaHei"/>
              </a:defRPr>
            </a:pPr>
            <a:r>
              <a:t>8. 验证基线：不是靠感觉，而是靠分层测试 + Smoke 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789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>
                <a:solidFill>
                  <a:srgbClr val="606C78"/>
                </a:solidFill>
                <a:latin typeface="Microsoft YaHei"/>
              </a:defRPr>
            </a:pPr>
            <a:r>
              <a:t>当前代码扫描确认 unittest 366 tests passing，并已有 edge_soften real Blender smoke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2240280" cy="1143000"/>
          </a:xfrm>
          <a:prstGeom prst="round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366</a:t>
            </a:r>
          </a:p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unit tests passing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79" y="1234440"/>
            <a:ext cx="2240280" cy="1143000"/>
          </a:xfrm>
          <a:prstGeom prst="roundRect">
            <a:avLst/>
          </a:prstGeom>
          <a:solidFill>
            <a:srgbClr val="24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atomic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2240280" cy="1143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real Blender smoke operation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19" y="1234440"/>
            <a:ext cx="2240280" cy="1143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0</a:t>
            </a:r>
          </a:p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LLM direct bpy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71800"/>
            <a:ext cx="347472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971800"/>
            <a:ext cx="91440" cy="2423160"/>
          </a:xfrm>
          <a:prstGeom prst="rect">
            <a:avLst/>
          </a:prstGeom>
          <a:solidFill>
            <a:srgbClr val="24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81528"/>
            <a:ext cx="31089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覆盖范围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306323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TaskObject lifecycle / ownership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Planning stages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Runtime success/failure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Domain/Core fake tests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Reporting + fake E2E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971800"/>
            <a:ext cx="347472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971800"/>
            <a:ext cx="91440" cy="2423160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3081528"/>
            <a:ext cx="31089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真实 Blender 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474720"/>
            <a:ext cx="306323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manual smoke runner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edge_soften on GF-Gundam.blend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output copy + report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source hash unchanged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971800"/>
            <a:ext cx="297180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971800"/>
            <a:ext cx="91440" cy="2423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081528"/>
            <a:ext cx="26060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当前缺口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47472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full operation smoke matrix 未完成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NL-to-real-Blender full smoke 未确认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sequence 不在当前版本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>
                <a:solidFill>
                  <a:srgbClr val="828C96"/>
                </a:solidFill>
                <a:latin typeface="Aptos"/>
              </a:defRPr>
            </a:pPr>
            <a:r>
              <a:t>3D Model Modification Agent System | Portfolio Deck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00" b="1">
                <a:solidFill>
                  <a:srgbClr val="12202F"/>
                </a:solidFill>
                <a:latin typeface="Microsoft YaHei"/>
              </a:defRPr>
            </a:pPr>
            <a:r>
              <a:t>9. 下一阶段：先做精度、可靠性、反馈闭环，再做功能扩展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789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>
                <a:solidFill>
                  <a:srgbClr val="606C78"/>
                </a:solidFill>
                <a:latin typeface="Microsoft YaHei"/>
              </a:defRPr>
            </a:pPr>
            <a:r>
              <a:t>路线重点：Architecture / Accuracy first, Functionality second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" cy="1417320"/>
          </a:xfrm>
          <a:prstGeom prst="rect">
            <a:avLst/>
          </a:prstGeom>
          <a:solidFill>
            <a:srgbClr val="24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27048"/>
            <a:ext cx="3063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1. Parameter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scale/style/density → 参数档位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91440" cy="1417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27048"/>
            <a:ext cx="3063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2. Selection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同义词 / metadata overlap / ambiguity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417320"/>
            <a:ext cx="91440" cy="1417320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27048"/>
            <a:ext cx="3063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3. Target Binding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4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confidence / ranking / user confirmation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91839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291839"/>
            <a:ext cx="91440" cy="14173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401568"/>
            <a:ext cx="3063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4. Preflight &amp; Post-check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59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执行前后事实校验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291839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3291839"/>
            <a:ext cx="91440" cy="1417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401568"/>
            <a:ext cx="3063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5. Report →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794759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失败与反馈进入下一轮规划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291839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3291839"/>
            <a:ext cx="91440" cy="1417320"/>
          </a:xfrm>
          <a:prstGeom prst="rect">
            <a:avLst/>
          </a:prstGeom>
          <a:solidFill>
            <a:srgbClr val="60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401568"/>
            <a:ext cx="3063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6. Smoke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794759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10 ops real Blender 验证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5715000"/>
            <a:ext cx="9555480" cy="502920"/>
          </a:xfrm>
          <a:prstGeom prst="roundRect">
            <a:avLst/>
          </a:prstGeom>
          <a:solidFill>
            <a:srgbClr val="FFF5EB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20" b="1">
                <a:solidFill>
                  <a:srgbClr val="7D4619"/>
                </a:solidFill>
                <a:latin typeface="Microsoft YaHei"/>
              </a:defRPr>
            </a:pPr>
            <a:r>
              <a:t>暂缓：Composite sequence / object creation / boolean / mesh edit / material system —— 等基础评估完成后再进入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3796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>
                <a:solidFill>
                  <a:srgbClr val="828C96"/>
                </a:solidFill>
                <a:latin typeface="Aptos"/>
              </a:defRPr>
            </a:pPr>
            <a:r>
              <a:t>3D Model Modification Agent System | Portfolio Deck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00" b="1">
                <a:solidFill>
                  <a:srgbClr val="12202F"/>
                </a:solidFill>
                <a:latin typeface="Microsoft YaHei"/>
              </a:defRPr>
            </a:pPr>
            <a:r>
              <a:t>10. 面试表达：30 秒 / 2 分钟 / 深挖点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789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>
                <a:solidFill>
                  <a:srgbClr val="606C78"/>
                </a:solidFill>
                <a:latin typeface="Microsoft YaHei"/>
              </a:defRPr>
            </a:pPr>
            <a:r>
              <a:t>把技术事实转成可讲述的项目故事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3383280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91440" cy="4846320"/>
          </a:xfrm>
          <a:prstGeom prst="rect">
            <a:avLst/>
          </a:prstGeom>
          <a:solidFill>
            <a:srgbClr val="24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98448"/>
            <a:ext cx="301752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30 秒版本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971800" cy="4251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我做了一个 Blender 3D 模型修改 Agent。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关键不是让 LLM 写脚本，而是把自然语言转成 TaskObject。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Planning 选择注册过的设计 operation，Runtime 执行确定性 handler。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Core API 是唯一 bpy 边界，并以 copy-only 方式保存结果。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383280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91440" cy="4846320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298448"/>
            <a:ext cx="301752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2 分钟版本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2971800" cy="4251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从 naive LLM scripting 的风险讲起。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解释 TaskObject lifecycle + field ownership。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解释 Agent / Planning / Runtime / Domain / Core 分层。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展示 10 个 atomic operations 如何形成机甲设计能力库。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88720"/>
            <a:ext cx="3383280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188720"/>
            <a:ext cx="91440" cy="4846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98448"/>
            <a:ext cx="301752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12202F"/>
                </a:solidFill>
                <a:latin typeface="Microsoft YaHei"/>
              </a:defRPr>
            </a:pPr>
            <a:r>
              <a:t>深挖点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691640"/>
            <a:ext cx="2971800" cy="4251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为什么 LLM 不执行？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为什么 TaskObject 能避免多事实源？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为什么先 atomic 后 composite？</a:t>
            </a:r>
          </a:p>
          <a:p>
            <a:pPr>
              <a:spcAft>
                <a:spcPts val="500"/>
              </a:spcAft>
              <a:defRPr sz="1030">
                <a:solidFill>
                  <a:srgbClr val="28323C"/>
                </a:solidFill>
                <a:latin typeface="Microsoft YaHei"/>
              </a:defRPr>
            </a:pPr>
            <a:r>
              <a:t>如何评估 selection / binding / parameter accuracy？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>
                <a:solidFill>
                  <a:srgbClr val="828C96"/>
                </a:solidFill>
                <a:latin typeface="Aptos"/>
              </a:defRPr>
            </a:pPr>
            <a:r>
              <a:t>3D Model Modification Agent System | Portfolio Deck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00" b="1">
                <a:solidFill>
                  <a:srgbClr val="12202F"/>
                </a:solidFill>
                <a:latin typeface="Microsoft YaHei"/>
              </a:defRPr>
            </a:pPr>
            <a:r>
              <a:t>11. 这个项目能证明什么能力？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789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>
                <a:solidFill>
                  <a:srgbClr val="606C78"/>
                </a:solidFill>
                <a:latin typeface="Microsoft YaHei"/>
              </a:defRPr>
            </a:pPr>
            <a:r>
              <a:t>作品集版最终要回答：这不是功能堆砌，而是系统设计能力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2788920" cy="594360"/>
          </a:xfrm>
          <a:prstGeom prst="roundRect">
            <a:avLst/>
          </a:prstGeom>
          <a:solidFill>
            <a:srgbClr val="12202F"/>
          </a:solidFill>
          <a:ln w="10160"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Agent 架构设计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1143000"/>
            <a:ext cx="754380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080" b="0">
                <a:solidFill>
                  <a:srgbClr val="12202F"/>
                </a:solidFill>
                <a:latin typeface="Microsoft YaHei"/>
              </a:defRPr>
            </a:pPr>
            <a:r>
              <a:t>能把 LLM 能力放进受控状态机，而不是让聊天模型直接执行副作用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788920" cy="594360"/>
          </a:xfrm>
          <a:prstGeom prst="roundRect">
            <a:avLst/>
          </a:prstGeom>
          <a:solidFill>
            <a:srgbClr val="12202F"/>
          </a:solidFill>
          <a:ln w="10160"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领域建模能力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2103120"/>
            <a:ext cx="754380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080" b="0">
                <a:solidFill>
                  <a:srgbClr val="12202F"/>
                </a:solidFill>
                <a:latin typeface="Microsoft YaHei"/>
              </a:defRPr>
            </a:pPr>
            <a:r>
              <a:t>把机甲硬表面设计动作抽象成 operation vocabulary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40"/>
            <a:ext cx="2788920" cy="594360"/>
          </a:xfrm>
          <a:prstGeom prst="roundRect">
            <a:avLst/>
          </a:prstGeom>
          <a:solidFill>
            <a:srgbClr val="12202F"/>
          </a:solidFill>
          <a:ln w="10160"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工程边界意识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3063240"/>
            <a:ext cx="754380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080" b="0">
                <a:solidFill>
                  <a:srgbClr val="12202F"/>
                </a:solidFill>
                <a:latin typeface="Microsoft YaHei"/>
              </a:defRPr>
            </a:pPr>
            <a:r>
              <a:t>清楚区分 Agent / Planning / Runtime / Domain / Core 的职责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023360"/>
            <a:ext cx="2788920" cy="594360"/>
          </a:xfrm>
          <a:prstGeom prst="roundRect">
            <a:avLst/>
          </a:prstGeom>
          <a:solidFill>
            <a:srgbClr val="12202F"/>
          </a:solidFill>
          <a:ln w="10160"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安全与可靠性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4023360"/>
            <a:ext cx="754380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080" b="0">
                <a:solidFill>
                  <a:srgbClr val="12202F"/>
                </a:solidFill>
                <a:latin typeface="Microsoft YaHei"/>
              </a:defRPr>
            </a:pPr>
            <a:r>
              <a:t>copy-only、non-destructive、Runtime report、failure stage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983480"/>
            <a:ext cx="2788920" cy="594360"/>
          </a:xfrm>
          <a:prstGeom prst="roundRect">
            <a:avLst/>
          </a:prstGeom>
          <a:solidFill>
            <a:srgbClr val="12202F"/>
          </a:solidFill>
          <a:ln w="10160"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评估驱动迭代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4983480"/>
            <a:ext cx="754380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1080" b="0">
                <a:solidFill>
                  <a:srgbClr val="12202F"/>
                </a:solidFill>
                <a:latin typeface="Microsoft YaHei"/>
              </a:defRPr>
            </a:pPr>
            <a:r>
              <a:t>下一阶段围绕 accuracy / reliability / feedback loop 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>
                <a:solidFill>
                  <a:srgbClr val="828C96"/>
                </a:solidFill>
                <a:latin typeface="Aptos"/>
              </a:defRPr>
            </a:pPr>
            <a:r>
              <a:t>3D Model Modification Agent System | Portfolio Deck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00" b="1">
                <a:solidFill>
                  <a:srgbClr val="12202F"/>
                </a:solidFill>
                <a:latin typeface="Microsoft YaHei"/>
              </a:defRPr>
            </a:pPr>
            <a:r>
              <a:t>12. 推荐 Demo Flow：用一个场景讲完整条主链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789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>
                <a:solidFill>
                  <a:srgbClr val="606C78"/>
                </a:solidFill>
                <a:latin typeface="Microsoft YaHei"/>
              </a:defRPr>
            </a:pPr>
            <a:r>
              <a:t>建议面试/教学时演示一个小闭环，而不是只讲模块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43000"/>
            <a:ext cx="5074920" cy="658368"/>
          </a:xfrm>
          <a:prstGeom prst="roundRect">
            <a:avLst/>
          </a:prstGeom>
          <a:solidFill>
            <a:srgbClr val="EBF5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960" b="0">
                <a:solidFill>
                  <a:srgbClr val="12202F"/>
                </a:solidFill>
                <a:latin typeface="Microsoft YaHei"/>
              </a:defRPr>
            </a:pPr>
            <a:r>
              <a:t>1. 用户：给胸甲增加 RG 风格面板线，但不要破坏轮廓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074920" cy="658368"/>
          </a:xfrm>
          <a:prstGeom prst="roundRect">
            <a:avLst/>
          </a:prstGeom>
          <a:solidFill>
            <a:srgbClr val="EBFAF0"/>
          </a:solidFill>
          <a:ln w="1016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960" b="0">
                <a:solidFill>
                  <a:srgbClr val="12202F"/>
                </a:solidFill>
                <a:latin typeface="Microsoft YaHei"/>
              </a:defRPr>
            </a:pPr>
            <a:r>
              <a:t>2. Agent：生成 draft TaskObject，填充 semantic_part / intent /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5074920" cy="658368"/>
          </a:xfrm>
          <a:prstGeom prst="roundRect">
            <a:avLst/>
          </a:prstGeom>
          <a:solidFill>
            <a:srgbClr val="EBF5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960" b="0">
                <a:solidFill>
                  <a:srgbClr val="12202F"/>
                </a:solidFill>
                <a:latin typeface="Microsoft YaHei"/>
              </a:defRPr>
            </a:pPr>
            <a:r>
              <a:t>3. Planning：绑定 chest_armor → Blender object；选择 panel_line_bevel_prepare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240280"/>
            <a:ext cx="5074920" cy="658368"/>
          </a:xfrm>
          <a:prstGeom prst="roundRect">
            <a:avLst/>
          </a:prstGeom>
          <a:solidFill>
            <a:srgbClr val="EBFAF0"/>
          </a:solidFill>
          <a:ln w="1016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960" b="0">
                <a:solidFill>
                  <a:srgbClr val="12202F"/>
                </a:solidFill>
                <a:latin typeface="Microsoft YaHei"/>
              </a:defRPr>
            </a:pPr>
            <a:r>
              <a:t>4. Parameter：根据 density / scale 补默认参数；Safety policy 通过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337560"/>
            <a:ext cx="5074920" cy="658368"/>
          </a:xfrm>
          <a:prstGeom prst="roundRect">
            <a:avLst/>
          </a:prstGeom>
          <a:solidFill>
            <a:srgbClr val="EBF5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960" b="0">
                <a:solidFill>
                  <a:srgbClr val="12202F"/>
                </a:solidFill>
                <a:latin typeface="Microsoft YaHei"/>
              </a:defRPr>
            </a:pPr>
            <a:r>
              <a:t>5. Runtime：构造 DomainOperationInput，派发 domain handler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337560"/>
            <a:ext cx="5074920" cy="658368"/>
          </a:xfrm>
          <a:prstGeom prst="roundRect">
            <a:avLst/>
          </a:prstGeom>
          <a:solidFill>
            <a:srgbClr val="EBFAF0"/>
          </a:solidFill>
          <a:ln w="1016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960" b="0">
                <a:solidFill>
                  <a:srgbClr val="12202F"/>
                </a:solidFill>
                <a:latin typeface="Microsoft YaHei"/>
              </a:defRPr>
            </a:pPr>
            <a:r>
              <a:t>6. Core：添加/替换 Bevel modifier，保存 output .blend copy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34840"/>
            <a:ext cx="5074920" cy="658368"/>
          </a:xfrm>
          <a:prstGeom prst="roundRect">
            <a:avLst/>
          </a:prstGeom>
          <a:solidFill>
            <a:srgbClr val="EBF5FF"/>
          </a:solidFill>
          <a:ln w="10160">
            <a:solidFill>
              <a:srgbClr val="24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>
              <a:defRPr sz="960" b="0">
                <a:solidFill>
                  <a:srgbClr val="12202F"/>
                </a:solidFill>
                <a:latin typeface="Microsoft YaHei"/>
              </a:defRPr>
            </a:pPr>
            <a:r>
              <a:t>7. Report：记录 changed_objects、modifier_info、source unchanged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0789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>
                <a:solidFill>
                  <a:srgbClr val="828C96"/>
                </a:solidFill>
                <a:latin typeface="Aptos"/>
              </a:defRPr>
            </a:pPr>
            <a:r>
              <a:t>3D Model Modification Agent System | Portfolio Deck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2240280"/>
            <a:ext cx="10104120" cy="1600200"/>
          </a:xfrm>
          <a:prstGeom prst="roundRect">
            <a:avLst/>
          </a:prstGeom>
          <a:solidFill>
            <a:srgbClr val="1C2D40"/>
          </a:solidFill>
          <a:ln>
            <a:solidFill>
              <a:srgbClr val="466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这个项目的价值，不在于“让 LLM 会写 Blender 脚本”，而在于把 3D 模型修改变成一个状态驱动、能力受控、可验证演进的 Agent 系统。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754880"/>
            <a:ext cx="818387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BED2E6"/>
                </a:solidFill>
                <a:latin typeface="Microsoft YaHei"/>
              </a:defRPr>
            </a:pPr>
            <a:r>
              <a:t>下一步：Parameter Accuracy → Selection Accuracy → Target Binding → Runtime Checks → Feedback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98932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AABED2"/>
                </a:solidFill>
                <a:latin typeface="Microsoft YaHei"/>
              </a:defRPr>
            </a:pPr>
            <a:r>
              <a:t>Portfolio / Interview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